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4" r:id="rId9"/>
    <p:sldId id="265" r:id="rId10"/>
    <p:sldId id="263" r:id="rId11"/>
    <p:sldId id="266" r:id="rId12"/>
    <p:sldId id="270" r:id="rId13"/>
    <p:sldId id="269" r:id="rId14"/>
    <p:sldId id="271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26.19775" units="1/cm"/>
          <inkml:channelProperty channel="Y" name="resolution" value="434.7826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2-24T18:48:40.8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19554 6535 38 0,'-3'-10'19'0,"-4"12"3"16,3-4-18-16,-3 2 3 15,-7 0 1-15,-3 5-2 16,-12 3 0-16,-2 5-4 15,-5 3 0-15,1 5-3 16,0 11 0-16,-4 10 1 16,0 8 1-16,-3 6-2 15,7 10 1-15,6 6-1 16,12-9 1-16,17 1-1 0,14-9 0 16,3-10 1-16,8-10 1 15,10-14 3-15,8-11 1 16,6-12 2-16,4-12 0 15,-4-15-5-15,4-13 0 16,0-16-1-16,-7-11 0 16,-11-2-2-16,-13 2 0 15,-15 3 5-15,-11 2 0 16,-14 11-3-16,-6 11 1 16,-12 7-4-16,-2 14 0 0,-5 8-3 15,-3 8 0-15,4 13 2 16,7 13 1-16,3 13-5 15,11 9 1-15,7 2 4 16,10-3 0-16,15-8 3 16,10-2 0-16,14-8 0 15,4-8 1-15,3-11 2 16,8-5 1-16,-1-5-4 16,-6-6 1-16,-8 1-2 15,-7-6 1-15,-7-5 0 16,-7-1 1-16,-7 4-3 15,-3-3 0-15,-11 5 1 16,-11 3 1-16,-3 5-1 16,0 5 0-16,-4 8-5 15,-3 11 1-15,0 13 2 16,3 3 1-16,0 10 1 0,8 6 1 16,6 2-2-16,11 1 0 15,11-6 1-15,3-8 1 16,7-3 0-16,18-8 0 15,3-12 3-15,4-9 0 16,3-10 0-16,8-17 0 16,-4-9 2-16,3-9 0 15,-6-13-5-15,-8-13 1 16,-10-11-3-16,-11-7 0 16,-11-12 1-16,-10-2 1 15,-21-5-2-15,-14 5 0 0,-14 11-2 16,-11 13 1-16,-14 10-1 15,-15 19 0-15,-13 16 1 16,3 24 0-16,-17 16 1 16,-8 26 1-16,1 29-1 15,6 26 0-15,-2 28 3 16,13 30 0-16,3 30-2 16,22 19 1-16,21-9 4 15,25-15 1-15,28-16-6 16,25-22 1-16,20-23-1 15,22-27 1-15,11-26-4 16,21-24 0-16,10-24-8 16,0-26 0-16,1-24-19 15,6-26 1 1</inkml:trace>
  <inkml:trace contextRef="#ctx0" brushRef="#br0" timeOffset="960.7">20941 6326 35 0,'10'-32'17'16,"-38"27"1"-16,21 0-18 0,-7-3 3 15,-7 3 0-15,0-1 3 16,-4 6 1-16,-3 0-6 16,0 3 0-16,-11 2 3 15,-4 8 0-15,-2 11 1 16,-8 16 1-16,0 13-6 15,-7 24 0-15,3 21-7 16,8 18 1-16,7 8 4 16,13 3 1-16,12-2 2 15,6-12 1-15,22-12-1 16,13-16 1-16,19-17 4 16,10-17 0-16,17-20 2 0,4-20 0 15,11-22-1-15,10-23 1 16,4-22-3-16,-4-20 0 15,-7-22-4-15,-3-16 0 16,-4-26-1-16,-7-8 1 16,-14 2-1-16,-28 1 1 15,-21 23 0-15,-18 24 0 16,-18 19-5-16,-10 20 0 16,-22 20 0-16,-10 18 0 15,-21 23-1-15,-7 25 1 16,-8 23-7-16,-6 27 1 15,7 2-9-15,3 6 1 0,21 10-19 16,15-2 0-16</inkml:trace>
  <inkml:trace contextRef="#ctx0" brushRef="#br0" timeOffset="1592.13">21435 6884 25 0,'-14'-10'12'0,"14"-9"6"16,0 19-13-16,7 0 5 15,-7 3 1-15,7 10-7 16,-4 11 0-16,1 21-4 16,3 13 0-16,0 19-3 15,-4 5 1-15,5-3 5 16,-5-10 1-16,4-11 2 15,0-10 0-15,0-11-4 16,4-11 1-16,-1-10 3 16,8-10 0-16,7-12-5 15,-1-15 0-15,5-13-1 16,2-14 1-16,5-13-1 16,2-5 0-16,5 3 0 15,-4 4 1-15,3 4-3 0,-10 15 0 16,-8 6-11-1,-2 10 0-15,-5 5-5 0,-3 12 0 16,-3 7-10-16,-1 7 0 16</inkml:trace>
  <inkml:trace contextRef="#ctx0" brushRef="#br0" timeOffset="2057.45">22031 7210 26 0,'-4'-5'13'0,"26"2"2"0,-15 6-13 0,3-3 4 16,8 0 1-16,0-3 1 16,3-2 1-16,3-6 1 15,8 0 0-15,3-4-7 16,4-7 0-16,4-1-3 15,-8-4 0-15,-3 1 3 16,-8 5 0-16,-6-9-2 16,-8 9 0-16,-13 0 0 15,-11 0 0-15,-7 8-1 16,-15 5 1-16,-2 5-2 16,-1 6 0-16,-7 7-5 15,-3 4 1-15,6 7 3 0,4 8 0 16,8 11 2-16,6-1 0 15,11 6-1-15,7 5 0 16,10-5-4-16,15 3 1 31,45-16-18-31,1-22 1 16,7-10 16-16,-8-10 0 16,-3-14 1-16,11-10 0 15,-11-1-8-15,-8-2 0 16,-6-2 8-16,-3 4 0 15</inkml:trace>
  <inkml:trace contextRef="#ctx0" brushRef="#br0" timeOffset="2342.66">22786 6969 30 0,'-4'21'15'0,"-10"8"4"16,11-15-15-16,-8 7 0 16,1 3 0-16,-1 18 0 15,-3 6 0-15,0-1 0 16,0-2 0-16,3-3 2 15,4-10 1-15,0-5-5 16,3-11 1-16,4-3 3 16,4-16 0-16,7-13-5 15,6-10 1-15,8-9 1 16,7-2 0-16,6 0-2 16,5 3 1-16,-4 5-3 15,3 8 0-15,7 5-6 16,-6 8 0-16,-1 3-12 0,-7 2 1 15,8 0-20-15,2 3 0 16,1-5 36-16,0-6 1 16</inkml:trace>
  <inkml:trace contextRef="#ctx0" brushRef="#br0" timeOffset="3003.13">23534 6985 25 0,'-21'11'12'0,"14"23"1"0,3-21-13 15,-3 11 1-15,-4 8 1 16,1 2 5-16,-1 1 1 15,-3-4-1-15,4-7 0 16,6-11-3-16,4-2 0 16,0-6 3-16,0-5 0 15,7-8-2-15,4-5 0 0,-1-5-3 16,8-4 1-16,7-4 2 16,6-3 0-16,1-3-3 15,-4 3 1-15,4 2-4 16,0 4 0-16,0 2-4 15,-4 5 0-15,0 0-4 16,-3 10 0-16,-4 4-9 16,0 2 1-16,0 0-5 15,-3 0 0-15,3-5 10 16,-7 2 0-16</inkml:trace>
  <inkml:trace contextRef="#ctx0" brushRef="#br0" timeOffset="3289.33">24141 7083 43 0,'0'5'21'0,"-15"30"0"0,12-20-22 0,-11 9 1 15,-11 11 1-15,0 4-12 16,4-2 0-16,4 0 1 16,3-13 0-16,6-3-11 15,5-15 1-15</inkml:trace>
  <inkml:trace contextRef="#ctx0" brushRef="#br0" timeOffset="3476.49">24282 6456 50 0,'-4'13'25'0,"1"-2"-1"16,-1-3-25-16,1 5-3 15,-4 5 0-15,-1 1-13 16,1-1 0-16,4-2-11 16,3-5 1-16</inkml:trace>
  <inkml:trace contextRef="#ctx0" brushRef="#br0" timeOffset="4294.04">24663 6935 36 0,'-11'-6'18'0,"-7"20"-5"16,11-4-19-16,-7 9 6 15,-3 13 0-15,-5 7 1 16,1 11 0-16,7 1 3 16,11-6 1-16,6-6 0 0,8-4 1 15,3-11 6-15,4-9 0 16,-1-9-9-16,4-9 1 16,4-13-3-16,0-10 0 15,-1-9-1-15,1-7 0 16,-4-3 0-16,-7 0 0 15,-7-3 1-15,-7 1 0 16,-3 7 0-16,-4 8 1 16,-7 6-4-16,0 7 0 15,0 9-2-15,-1 10 0 16,1 5-2-16,7 6 1 0,0-3 5 16,7 5 1-16,7-5 0 15,7-6 1-15,11-9 0 16,10-9 0-16,11-13-3 15,11-11 1-15,6-13 1 16,-3-5 0-16,4-6 6 16,-1-2 0-16,-3 3-3 15,0-1 0-15,-11 3-5 16,-10 6 1-16,-7 2-4 16,-11 10 0-16,-10 12 4 15,-15 15 0-15,-10 8 0 16,-14 21 1-16,-11 11 0 15,-3 21 1-15,-11 21-4 16,-7 27 0-16,0 23-9 16,-4 8 0-16,8-2 16 15,10-5 1-15,11-14-9 0,10-13 0 16,11-19-9-16,10-13 0 16,8-15-11-16,10-14 0 15,7-19 7-15,11-10 1 16</inkml:trace>
  <inkml:trace contextRef="#ctx0" brushRef="#br0" timeOffset="4775.38">25425 7011 29 0,'-7'-2'14'0,"14"7"6"16,-4-2-15-16,1-1 0 16,3 4 0-16,0-1 2 15,7-2 1-15,4-3 3 16,3-6 1-16,0-2-9 15,0 0 0-15,0-7-3 16,-3-4 0-16,0 1 2 16,-4-4 0-16,-4-1 0 15,-3 4 0-15,-7 1 0 0,-3-4 0 16,-4 1 1-16,-11 5 0 16,-14 8-3-16,-3 8 0 15,-11 6-1-15,0 15 0 16,-3 11 0-16,0 7 1 15,10 14 0-15,7 8 0 16,14 10 0-16,11 6 1 16,14-3-3-16,22-10 1 15,13-6-10-15,21-13 1 16,4-16-9-16,25-16 1 16,10-13-20-16,18-21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28A52-FE6C-41F3-8C19-ACE40C5107EF}" type="datetimeFigureOut">
              <a:rPr lang="de-AT" smtClean="0"/>
              <a:t>13.04.2023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2FA0B-E4A1-4D13-9B7B-F6A796AC2AD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87283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2FA0B-E4A1-4D13-9B7B-F6A796AC2ADD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56731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1130E-B8D3-4CE9-B792-8AFB07C4BB56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51AA-099C-4657-AA3A-6A2DE61BF3A5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E488C-E02A-44CD-AF84-F92FC74DED01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8C92-4785-4729-AB36-C371880FD033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8012-9E68-4A12-B0D4-3848B0D983DA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3E31-533A-4A68-92BC-34576E6B6362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3082-039C-40DB-982C-AC27960ED930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6434-EF25-4D1B-8002-6C91DC488F1C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25DF-ABA7-456F-94F0-D2CA96E47608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8983-23B9-4476-AF1A-792913B3957C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2230-DC27-4C8D-93EB-637B6AFCFB08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5097-2C3C-448F-9BF4-06DD7E147929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A7AAA-0E3D-4D68-8AB5-BFC1C8E60E18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Textmasterformat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A8A1D-B772-4831-BC7F-2DB8E68BB60B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Textmasterformat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FABB7-4039-4080-BA4F-CB14C2AC546B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3AA1C-3685-476E-AD95-C83A10A36610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BA08-529F-456A-B5FF-828F5EC17D9E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CEF318-9629-4EC0-AE20-90A9D2ADAAB8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OOP Java - (c) 2014 Damböck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AT" dirty="0"/>
              <a:t>Objektorientierte Programmierung mit JAVA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© 2014 DI Werner </a:t>
            </a:r>
            <a:r>
              <a:rPr lang="de-AT" dirty="0" err="1"/>
              <a:t>Damböck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699038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97727"/>
          </a:xfrm>
        </p:spPr>
        <p:txBody>
          <a:bodyPr>
            <a:normAutofit fontScale="90000"/>
          </a:bodyPr>
          <a:lstStyle/>
          <a:p>
            <a:r>
              <a:rPr lang="de-AT" dirty="0"/>
              <a:t>Klassen - Objekte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484310" y="1383527"/>
            <a:ext cx="10018713" cy="4407673"/>
          </a:xfrm>
        </p:spPr>
        <p:txBody>
          <a:bodyPr>
            <a:normAutofit/>
          </a:bodyPr>
          <a:lstStyle/>
          <a:p>
            <a:r>
              <a:rPr lang="de-AT" dirty="0"/>
              <a:t>Klasse: Beschreibung, Datentyp </a:t>
            </a:r>
          </a:p>
          <a:p>
            <a:pPr lvl="1"/>
            <a:r>
              <a:rPr lang="de-AT" dirty="0"/>
              <a:t>Eigenschaften -&gt; Variable</a:t>
            </a:r>
          </a:p>
          <a:p>
            <a:pPr lvl="1"/>
            <a:r>
              <a:rPr lang="de-AT" dirty="0"/>
              <a:t>Methoden -&gt; Funktionen</a:t>
            </a:r>
          </a:p>
          <a:p>
            <a:pPr lvl="1"/>
            <a:r>
              <a:rPr lang="de-AT" dirty="0" err="1"/>
              <a:t>Konstruktor</a:t>
            </a:r>
            <a:r>
              <a:rPr lang="de-AT" dirty="0"/>
              <a:t> -&gt; Methode zur Erzeugung eines Objektes</a:t>
            </a:r>
          </a:p>
          <a:p>
            <a:pPr lvl="2"/>
            <a:r>
              <a:rPr lang="de-AT" dirty="0"/>
              <a:t>Name = Klassenname, kein Rückgabedatentyp</a:t>
            </a:r>
          </a:p>
          <a:p>
            <a:r>
              <a:rPr lang="de-AT" dirty="0"/>
              <a:t>Objekt: Instanz (Realisierung) einer Klasse</a:t>
            </a:r>
          </a:p>
          <a:p>
            <a:pPr lvl="1"/>
            <a:r>
              <a:rPr lang="de-AT" dirty="0"/>
              <a:t>Erzeugung mit </a:t>
            </a:r>
            <a:r>
              <a:rPr lang="de-AT" dirty="0" err="1"/>
              <a:t>new</a:t>
            </a:r>
            <a:r>
              <a:rPr lang="de-AT" dirty="0"/>
              <a:t> -&gt; </a:t>
            </a:r>
            <a:r>
              <a:rPr lang="de-AT" dirty="0" err="1"/>
              <a:t>Konstruktor</a:t>
            </a:r>
            <a:r>
              <a:rPr lang="de-AT" dirty="0"/>
              <a:t> wird aufgerufen </a:t>
            </a:r>
          </a:p>
          <a:p>
            <a:pPr lvl="1"/>
            <a:r>
              <a:rPr lang="de-AT" dirty="0"/>
              <a:t>Bei der Erzeugung erhalten alle Eigenschaften ihre Werte</a:t>
            </a:r>
          </a:p>
          <a:p>
            <a:pPr lvl="1"/>
            <a:r>
              <a:rPr lang="de-AT" dirty="0"/>
              <a:t>Beliebig viele Objekte einer Klasse möglich</a:t>
            </a:r>
          </a:p>
          <a:p>
            <a:pPr lvl="1"/>
            <a:endParaRPr lang="de-AT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250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73873"/>
          </a:xfrm>
        </p:spPr>
        <p:txBody>
          <a:bodyPr>
            <a:normAutofit fontScale="90000"/>
          </a:bodyPr>
          <a:lstStyle/>
          <a:p>
            <a:r>
              <a:rPr lang="de-AT" dirty="0"/>
              <a:t>Schlüsselwort „</a:t>
            </a:r>
            <a:r>
              <a:rPr lang="de-AT" dirty="0" err="1"/>
              <a:t>static</a:t>
            </a:r>
            <a:r>
              <a:rPr lang="de-AT" dirty="0"/>
              <a:t>“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484310" y="1359673"/>
            <a:ext cx="10018713" cy="4431527"/>
          </a:xfrm>
        </p:spPr>
        <p:txBody>
          <a:bodyPr/>
          <a:lstStyle/>
          <a:p>
            <a:r>
              <a:rPr lang="de-AT" dirty="0"/>
              <a:t>Statische Methoden und Eigenschaften mit Schlüsselwort „</a:t>
            </a:r>
            <a:r>
              <a:rPr lang="de-AT" dirty="0" err="1"/>
              <a:t>static</a:t>
            </a:r>
            <a:r>
              <a:rPr lang="de-AT" dirty="0"/>
              <a:t>“</a:t>
            </a:r>
          </a:p>
          <a:p>
            <a:pPr lvl="1"/>
            <a:r>
              <a:rPr lang="de-AT" dirty="0"/>
              <a:t>an kein Objekt gebunden</a:t>
            </a:r>
          </a:p>
          <a:p>
            <a:pPr lvl="1"/>
            <a:r>
              <a:rPr lang="de-AT" dirty="0"/>
              <a:t>ohne erzeugtes Objekt gültig</a:t>
            </a:r>
          </a:p>
          <a:p>
            <a:pPr lvl="1"/>
            <a:r>
              <a:rPr lang="de-AT" dirty="0"/>
              <a:t>Eigenschaften -&gt; globale Variable</a:t>
            </a:r>
          </a:p>
          <a:p>
            <a:pPr lvl="1"/>
            <a:r>
              <a:rPr lang="de-AT" dirty="0"/>
              <a:t>Methoden 	-&gt; überall auch ohne Objekt verwendbar</a:t>
            </a:r>
            <a:br>
              <a:rPr lang="de-AT" dirty="0"/>
            </a:br>
            <a:r>
              <a:rPr lang="de-AT" dirty="0"/>
              <a:t>				-&gt; darf nur lokale oder </a:t>
            </a:r>
            <a:r>
              <a:rPr lang="de-AT" dirty="0" err="1"/>
              <a:t>static</a:t>
            </a:r>
            <a:r>
              <a:rPr lang="de-AT" dirty="0"/>
              <a:t> Variable verwenden!!</a:t>
            </a:r>
          </a:p>
          <a:p>
            <a:r>
              <a:rPr lang="de-AT" dirty="0"/>
              <a:t>Objekt Methoden und Eigenschaften ohne Schlüsselwort „</a:t>
            </a:r>
            <a:r>
              <a:rPr lang="de-AT" dirty="0" err="1"/>
              <a:t>static</a:t>
            </a:r>
            <a:r>
              <a:rPr lang="de-AT" dirty="0"/>
              <a:t>“</a:t>
            </a:r>
          </a:p>
          <a:p>
            <a:pPr lvl="1"/>
            <a:r>
              <a:rPr lang="de-AT" dirty="0"/>
              <a:t>Nur mit einem erzeugten Objekt gültig</a:t>
            </a:r>
          </a:p>
          <a:p>
            <a:pPr lvl="1"/>
            <a:r>
              <a:rPr lang="de-AT" dirty="0"/>
              <a:t>Eigenschaften zur Laufzeit mit </a:t>
            </a:r>
            <a:r>
              <a:rPr lang="de-AT" dirty="0" err="1"/>
              <a:t>new</a:t>
            </a:r>
            <a:r>
              <a:rPr lang="de-AT" dirty="0"/>
              <a:t> neu erzeugt</a:t>
            </a:r>
          </a:p>
          <a:p>
            <a:pPr lvl="1"/>
            <a:r>
              <a:rPr lang="de-AT" dirty="0"/>
              <a:t>Objekt-Methoden greifen immer auf die Eigenschaften des eigenen Objektes zu 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439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594360"/>
          </a:xfrm>
        </p:spPr>
        <p:txBody>
          <a:bodyPr>
            <a:normAutofit fontScale="90000"/>
          </a:bodyPr>
          <a:lstStyle/>
          <a:p>
            <a:r>
              <a:rPr lang="de-AT" dirty="0"/>
              <a:t>Beispiel – komplexe Zahl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484310" y="1423283"/>
            <a:ext cx="10018713" cy="4367917"/>
          </a:xfrm>
        </p:spPr>
        <p:txBody>
          <a:bodyPr>
            <a:normAutofit lnSpcReduction="10000"/>
          </a:bodyPr>
          <a:lstStyle/>
          <a:p>
            <a:r>
              <a:rPr lang="de-AT" dirty="0"/>
              <a:t>Klasse:</a:t>
            </a:r>
            <a:br>
              <a:rPr lang="de-AT" dirty="0"/>
            </a:br>
            <a:endParaRPr lang="de-AT" dirty="0"/>
          </a:p>
          <a:p>
            <a:endParaRPr lang="de-AT" dirty="0"/>
          </a:p>
          <a:p>
            <a:pPr marL="0" indent="0">
              <a:buNone/>
            </a:pPr>
            <a:br>
              <a:rPr lang="de-AT" dirty="0"/>
            </a:br>
            <a:br>
              <a:rPr lang="de-AT" dirty="0"/>
            </a:br>
            <a:br>
              <a:rPr lang="de-AT" dirty="0"/>
            </a:br>
            <a:br>
              <a:rPr lang="de-AT" dirty="0"/>
            </a:br>
            <a:endParaRPr lang="de-AT" dirty="0"/>
          </a:p>
          <a:p>
            <a:r>
              <a:rPr lang="de-AT" dirty="0"/>
              <a:t>Objekt:</a:t>
            </a:r>
            <a:br>
              <a:rPr lang="de-AT" dirty="0"/>
            </a:br>
            <a:br>
              <a:rPr lang="de-AT" dirty="0"/>
            </a:b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4" y="1585913"/>
            <a:ext cx="5389079" cy="2952728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24" y="4855358"/>
            <a:ext cx="5724525" cy="619125"/>
          </a:xfrm>
          <a:prstGeom prst="rect">
            <a:avLst/>
          </a:prstGeom>
        </p:spPr>
      </p:pic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525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618214"/>
          </a:xfrm>
        </p:spPr>
        <p:txBody>
          <a:bodyPr>
            <a:normAutofit fontScale="90000"/>
          </a:bodyPr>
          <a:lstStyle/>
          <a:p>
            <a:r>
              <a:rPr lang="de-AT" dirty="0"/>
              <a:t>Vererbung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484310" y="1447137"/>
            <a:ext cx="10018713" cy="4492487"/>
          </a:xfrm>
        </p:spPr>
        <p:txBody>
          <a:bodyPr>
            <a:normAutofit/>
          </a:bodyPr>
          <a:lstStyle/>
          <a:p>
            <a:r>
              <a:rPr lang="de-AT" dirty="0"/>
              <a:t>Vererbung mit „</a:t>
            </a:r>
            <a:r>
              <a:rPr lang="de-AT" dirty="0" err="1"/>
              <a:t>extends</a:t>
            </a:r>
            <a:r>
              <a:rPr lang="de-AT" dirty="0"/>
              <a:t>“</a:t>
            </a:r>
          </a:p>
          <a:p>
            <a:r>
              <a:rPr lang="de-AT" dirty="0"/>
              <a:t>Eine Vaterklasse -&gt; keine Mehrfachvererbung!</a:t>
            </a:r>
          </a:p>
          <a:p>
            <a:r>
              <a:rPr lang="de-AT" dirty="0"/>
              <a:t>Beliebig viele Tochterklassen</a:t>
            </a:r>
          </a:p>
          <a:p>
            <a:r>
              <a:rPr lang="de-AT" dirty="0"/>
              <a:t>Vererbungshierarchie -&gt; Baumstruktur</a:t>
            </a:r>
          </a:p>
          <a:p>
            <a:r>
              <a:rPr lang="de-AT" dirty="0"/>
              <a:t>Tochterklasse erbt alle Eigenschaften und Methoden der Vaterklasse</a:t>
            </a:r>
          </a:p>
          <a:p>
            <a:r>
              <a:rPr lang="de-AT" dirty="0"/>
              <a:t>Objektvariable einer bestimmten Klasse kann Objekte der selben Klasse und</a:t>
            </a:r>
            <a:br>
              <a:rPr lang="de-AT" dirty="0"/>
            </a:br>
            <a:r>
              <a:rPr lang="de-AT" dirty="0"/>
              <a:t>aller Tochterklassen und deren Tochterklassen usw. aufnehmen.</a:t>
            </a:r>
            <a:br>
              <a:rPr lang="de-AT" dirty="0"/>
            </a:br>
            <a:r>
              <a:rPr lang="de-AT" dirty="0" err="1"/>
              <a:t>zB</a:t>
            </a:r>
            <a:r>
              <a:rPr lang="de-AT" dirty="0"/>
              <a:t>.: Fahrzeug x = </a:t>
            </a:r>
            <a:r>
              <a:rPr lang="de-AT" dirty="0" err="1"/>
              <a:t>new</a:t>
            </a:r>
            <a:r>
              <a:rPr lang="de-AT" dirty="0"/>
              <a:t> Auto();</a:t>
            </a:r>
          </a:p>
        </p:txBody>
      </p:sp>
      <p:sp>
        <p:nvSpPr>
          <p:cNvPr id="7" name="Rechteck 6"/>
          <p:cNvSpPr/>
          <p:nvPr/>
        </p:nvSpPr>
        <p:spPr>
          <a:xfrm>
            <a:off x="7906328" y="2536447"/>
            <a:ext cx="1237673" cy="397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Strasse</a:t>
            </a:r>
            <a:endParaRPr lang="de-AT" dirty="0"/>
          </a:p>
        </p:txBody>
      </p:sp>
      <p:sp>
        <p:nvSpPr>
          <p:cNvPr id="8" name="Rechteck 7"/>
          <p:cNvSpPr/>
          <p:nvPr/>
        </p:nvSpPr>
        <p:spPr>
          <a:xfrm>
            <a:off x="9740248" y="2547681"/>
            <a:ext cx="1431637" cy="397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Schiene</a:t>
            </a:r>
          </a:p>
        </p:txBody>
      </p:sp>
      <p:sp>
        <p:nvSpPr>
          <p:cNvPr id="9" name="Rechteck 8"/>
          <p:cNvSpPr/>
          <p:nvPr/>
        </p:nvSpPr>
        <p:spPr>
          <a:xfrm>
            <a:off x="8905058" y="1719652"/>
            <a:ext cx="1237673" cy="397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Fahrzeug</a:t>
            </a:r>
          </a:p>
        </p:txBody>
      </p:sp>
      <p:sp>
        <p:nvSpPr>
          <p:cNvPr id="10" name="Rechteck 9"/>
          <p:cNvSpPr/>
          <p:nvPr/>
        </p:nvSpPr>
        <p:spPr>
          <a:xfrm>
            <a:off x="7232073" y="3353242"/>
            <a:ext cx="1237673" cy="397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Auto</a:t>
            </a:r>
          </a:p>
        </p:txBody>
      </p:sp>
      <p:sp>
        <p:nvSpPr>
          <p:cNvPr id="11" name="Rechteck 10"/>
          <p:cNvSpPr/>
          <p:nvPr/>
        </p:nvSpPr>
        <p:spPr>
          <a:xfrm>
            <a:off x="8762565" y="3353241"/>
            <a:ext cx="1237673" cy="397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Rad</a:t>
            </a:r>
          </a:p>
        </p:txBody>
      </p:sp>
      <p:cxnSp>
        <p:nvCxnSpPr>
          <p:cNvPr id="13" name="Gerader Verbinder 12"/>
          <p:cNvCxnSpPr>
            <a:stCxn id="9" idx="2"/>
            <a:endCxn id="8" idx="0"/>
          </p:cNvCxnSpPr>
          <p:nvPr/>
        </p:nvCxnSpPr>
        <p:spPr>
          <a:xfrm>
            <a:off x="9523895" y="2116815"/>
            <a:ext cx="932172" cy="4308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/>
          <p:cNvCxnSpPr>
            <a:stCxn id="7" idx="0"/>
            <a:endCxn id="9" idx="2"/>
          </p:cNvCxnSpPr>
          <p:nvPr/>
        </p:nvCxnSpPr>
        <p:spPr>
          <a:xfrm flipV="1">
            <a:off x="8525165" y="2116815"/>
            <a:ext cx="998730" cy="419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/>
          <p:cNvCxnSpPr>
            <a:stCxn id="7" idx="2"/>
            <a:endCxn id="10" idx="0"/>
          </p:cNvCxnSpPr>
          <p:nvPr/>
        </p:nvCxnSpPr>
        <p:spPr>
          <a:xfrm flipH="1">
            <a:off x="7850910" y="2933610"/>
            <a:ext cx="674255" cy="419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/>
          <p:cNvCxnSpPr>
            <a:stCxn id="7" idx="2"/>
            <a:endCxn id="11" idx="0"/>
          </p:cNvCxnSpPr>
          <p:nvPr/>
        </p:nvCxnSpPr>
        <p:spPr>
          <a:xfrm>
            <a:off x="8525165" y="2933610"/>
            <a:ext cx="856237" cy="4196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/>
          <p:cNvSpPr/>
          <p:nvPr/>
        </p:nvSpPr>
        <p:spPr>
          <a:xfrm>
            <a:off x="10300052" y="3353240"/>
            <a:ext cx="1431637" cy="397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Zug</a:t>
            </a:r>
          </a:p>
        </p:txBody>
      </p:sp>
      <p:cxnSp>
        <p:nvCxnSpPr>
          <p:cNvPr id="24" name="Gerader Verbinder 23"/>
          <p:cNvCxnSpPr>
            <a:endCxn id="8" idx="2"/>
          </p:cNvCxnSpPr>
          <p:nvPr/>
        </p:nvCxnSpPr>
        <p:spPr>
          <a:xfrm flipH="1" flipV="1">
            <a:off x="10456067" y="2944844"/>
            <a:ext cx="538270" cy="4083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ußzeilenplatzhalter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959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29532"/>
          </a:xfrm>
        </p:spPr>
        <p:txBody>
          <a:bodyPr/>
          <a:lstStyle/>
          <a:p>
            <a:r>
              <a:rPr lang="de-AT" dirty="0"/>
              <a:t>Polymorphie - Vieldeutigkeit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484310" y="1415333"/>
            <a:ext cx="10018713" cy="4375867"/>
          </a:xfrm>
        </p:spPr>
        <p:txBody>
          <a:bodyPr/>
          <a:lstStyle/>
          <a:p>
            <a:r>
              <a:rPr lang="de-AT" dirty="0"/>
              <a:t>Polymorphe Methode</a:t>
            </a:r>
          </a:p>
          <a:p>
            <a:pPr lvl="1"/>
            <a:r>
              <a:rPr lang="de-AT" dirty="0"/>
              <a:t>In vererbter Tochterklasse</a:t>
            </a:r>
          </a:p>
          <a:p>
            <a:pPr lvl="1"/>
            <a:r>
              <a:rPr lang="de-AT" dirty="0"/>
              <a:t>Gleicher Methodenname</a:t>
            </a:r>
          </a:p>
          <a:p>
            <a:pPr lvl="1"/>
            <a:r>
              <a:rPr lang="de-AT" dirty="0"/>
              <a:t>Gleiche Parameter</a:t>
            </a:r>
          </a:p>
          <a:p>
            <a:pPr lvl="1"/>
            <a:r>
              <a:rPr lang="de-AT" dirty="0"/>
              <a:t>Gleicher Ergebnisdatentyp</a:t>
            </a:r>
          </a:p>
          <a:p>
            <a:r>
              <a:rPr lang="de-AT" dirty="0"/>
              <a:t>Zur Laufzeit wird entschieden welche Methode verwendet wird</a:t>
            </a:r>
          </a:p>
          <a:p>
            <a:r>
              <a:rPr lang="de-AT" dirty="0"/>
              <a:t>Es wird immer die Methode der aktuellen Instanz aufgerufen</a:t>
            </a:r>
          </a:p>
          <a:p>
            <a:r>
              <a:rPr lang="de-AT" dirty="0"/>
              <a:t>Zugriff auf die polymorphe Methode der Vaterklasse mit „super()“ </a:t>
            </a:r>
          </a:p>
          <a:p>
            <a:r>
              <a:rPr lang="de-AT" dirty="0"/>
              <a:t>ohne OOP durch Switch-Case oder </a:t>
            </a:r>
            <a:r>
              <a:rPr lang="de-AT" dirty="0" err="1"/>
              <a:t>if</a:t>
            </a:r>
            <a:r>
              <a:rPr lang="de-AT" dirty="0"/>
              <a:t>-</a:t>
            </a:r>
            <a:r>
              <a:rPr lang="de-AT" dirty="0" err="1"/>
              <a:t>else</a:t>
            </a:r>
            <a:r>
              <a:rPr lang="de-AT" dirty="0"/>
              <a:t>-Ketten realisiert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Freihand 5"/>
              <p14:cNvContentPartPr/>
              <p14:nvPr/>
            </p14:nvContentPartPr>
            <p14:xfrm>
              <a:off x="6651000" y="2175480"/>
              <a:ext cx="2626560" cy="658440"/>
            </p14:xfrm>
          </p:contentPart>
        </mc:Choice>
        <mc:Fallback xmlns="">
          <p:pic>
            <p:nvPicPr>
              <p:cNvPr id="6" name="Freihand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40200" y="2165400"/>
                <a:ext cx="2639880" cy="67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5043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93143"/>
          </a:xfrm>
        </p:spPr>
        <p:txBody>
          <a:bodyPr/>
          <a:lstStyle/>
          <a:p>
            <a:r>
              <a:rPr lang="de-AT" dirty="0"/>
              <a:t>Datenkapselung  und Sichtbarkeit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484311" y="1478943"/>
            <a:ext cx="10018713" cy="4405021"/>
          </a:xfrm>
        </p:spPr>
        <p:txBody>
          <a:bodyPr>
            <a:normAutofit lnSpcReduction="10000"/>
          </a:bodyPr>
          <a:lstStyle/>
          <a:p>
            <a:r>
              <a:rPr lang="de-AT" dirty="0"/>
              <a:t>Sichtbarkeit</a:t>
            </a:r>
            <a:br>
              <a:rPr lang="de-AT" dirty="0"/>
            </a:br>
            <a:br>
              <a:rPr lang="de-AT" dirty="0"/>
            </a:br>
            <a:br>
              <a:rPr lang="de-AT" dirty="0"/>
            </a:br>
            <a:br>
              <a:rPr lang="de-AT" dirty="0"/>
            </a:br>
            <a:br>
              <a:rPr lang="de-AT" dirty="0"/>
            </a:br>
            <a:br>
              <a:rPr lang="de-AT" dirty="0"/>
            </a:br>
            <a:br>
              <a:rPr lang="de-AT" dirty="0"/>
            </a:br>
            <a:endParaRPr lang="de-AT" dirty="0"/>
          </a:p>
          <a:p>
            <a:r>
              <a:rPr lang="de-AT" dirty="0"/>
              <a:t>Getter und Setter-Methoden:</a:t>
            </a:r>
          </a:p>
          <a:p>
            <a:pPr lvl="1"/>
            <a:r>
              <a:rPr lang="de-AT" dirty="0"/>
              <a:t>Greifen auf geschützte Eigenschaften zu</a:t>
            </a:r>
          </a:p>
          <a:p>
            <a:pPr lvl="1"/>
            <a:r>
              <a:rPr lang="de-AT" dirty="0"/>
              <a:t>Bessere Wartbarkeit -&gt; Eigenschaften können später geändert werden</a:t>
            </a:r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022281"/>
              </p:ext>
            </p:extLst>
          </p:nvPr>
        </p:nvGraphicFramePr>
        <p:xfrm>
          <a:off x="1834239" y="2135127"/>
          <a:ext cx="9668785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9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6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31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9230">
                <a:tc>
                  <a:txBody>
                    <a:bodyPr/>
                    <a:lstStyle/>
                    <a:p>
                      <a:r>
                        <a:rPr lang="de-AT" dirty="0"/>
                        <a:t>Sichtbarkeit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err="1"/>
                        <a:t>Modifier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Gleiche Klasse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Andere Klasse im gleichen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Tochterklassen</a:t>
                      </a:r>
                      <a:r>
                        <a:rPr lang="de-AT" baseline="0" dirty="0"/>
                        <a:t> in anderem Packet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Überall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err="1"/>
                        <a:t>public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sichtbar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sichtbar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sichtbar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sichtbar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err="1"/>
                        <a:t>Protected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err="1"/>
                        <a:t>protected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sichtbar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sichtbar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sichtbar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err="1"/>
                        <a:t>Packetsichtbar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sichtbar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sichtbar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sichtbar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970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71945"/>
          </a:xfrm>
        </p:spPr>
        <p:txBody>
          <a:bodyPr>
            <a:normAutofit fontScale="90000"/>
          </a:bodyPr>
          <a:lstStyle/>
          <a:p>
            <a:r>
              <a:rPr lang="de-AT" dirty="0"/>
              <a:t>Abstrakte Klassen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484310" y="1357745"/>
            <a:ext cx="10018713" cy="4433455"/>
          </a:xfrm>
        </p:spPr>
        <p:txBody>
          <a:bodyPr/>
          <a:lstStyle/>
          <a:p>
            <a:r>
              <a:rPr lang="de-AT" dirty="0" err="1"/>
              <a:t>Modifier</a:t>
            </a:r>
            <a:r>
              <a:rPr lang="de-AT" dirty="0"/>
              <a:t> „</a:t>
            </a:r>
            <a:r>
              <a:rPr lang="de-AT" dirty="0" err="1"/>
              <a:t>abstract</a:t>
            </a:r>
            <a:r>
              <a:rPr lang="de-AT" dirty="0"/>
              <a:t>“</a:t>
            </a:r>
          </a:p>
          <a:p>
            <a:r>
              <a:rPr lang="de-AT" dirty="0"/>
              <a:t>Können nicht </a:t>
            </a:r>
            <a:r>
              <a:rPr lang="de-AT" dirty="0" err="1"/>
              <a:t>instanziert</a:t>
            </a:r>
            <a:r>
              <a:rPr lang="de-AT" dirty="0"/>
              <a:t> werden!</a:t>
            </a:r>
          </a:p>
          <a:p>
            <a:r>
              <a:rPr lang="de-AT" dirty="0"/>
              <a:t>Können als Objekt-Datentyp verwendet werden </a:t>
            </a:r>
            <a:br>
              <a:rPr lang="de-AT" dirty="0"/>
            </a:br>
            <a:r>
              <a:rPr lang="de-AT" dirty="0"/>
              <a:t>-&gt; zur Aufnahme von Objekten der Tochterklassen -&gt; Polymorphie!</a:t>
            </a:r>
          </a:p>
          <a:p>
            <a:r>
              <a:rPr lang="de-AT" dirty="0"/>
              <a:t>Vaterklassen oder Interfaces</a:t>
            </a:r>
          </a:p>
          <a:p>
            <a:r>
              <a:rPr lang="de-AT" dirty="0"/>
              <a:t>Definition von vererbbaren Eigenschaften</a:t>
            </a:r>
          </a:p>
          <a:p>
            <a:r>
              <a:rPr lang="de-AT" dirty="0"/>
              <a:t>Definition von polymorphen Methoden</a:t>
            </a:r>
          </a:p>
          <a:p>
            <a:endParaRPr lang="de-AT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296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90255" y="165101"/>
            <a:ext cx="10363200" cy="596900"/>
          </a:xfrm>
        </p:spPr>
        <p:txBody>
          <a:bodyPr>
            <a:normAutofit fontScale="90000"/>
          </a:bodyPr>
          <a:lstStyle/>
          <a:p>
            <a:r>
              <a:rPr lang="de-AT" dirty="0" err="1"/>
              <a:t>Modifier</a:t>
            </a:r>
            <a:endParaRPr lang="de-AT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7968221"/>
              </p:ext>
            </p:extLst>
          </p:nvPr>
        </p:nvGraphicFramePr>
        <p:xfrm>
          <a:off x="1712913" y="889001"/>
          <a:ext cx="10339387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3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65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579">
                <a:tc>
                  <a:txBody>
                    <a:bodyPr/>
                    <a:lstStyle/>
                    <a:p>
                      <a:r>
                        <a:rPr lang="de-AT" dirty="0" err="1"/>
                        <a:t>Modifier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Klasse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/>
                        <a:t>Variable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Methode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 err="1"/>
                        <a:t>Konstruktor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579">
                <a:tc>
                  <a:txBody>
                    <a:bodyPr/>
                    <a:lstStyle/>
                    <a:p>
                      <a:r>
                        <a:rPr lang="de-AT" dirty="0" err="1"/>
                        <a:t>static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Globale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Klassenmethode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79">
                <a:tc>
                  <a:txBody>
                    <a:bodyPr/>
                    <a:lstStyle/>
                    <a:p>
                      <a:r>
                        <a:rPr lang="de-AT" dirty="0" err="1"/>
                        <a:t>public</a:t>
                      </a:r>
                      <a:endParaRPr lang="de-AT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de-AT" dirty="0"/>
                        <a:t>Überall</a:t>
                      </a:r>
                      <a:r>
                        <a:rPr lang="de-AT" baseline="0" dirty="0"/>
                        <a:t> sichtbar</a:t>
                      </a:r>
                      <a:endParaRPr lang="de-A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A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79">
                <a:tc>
                  <a:txBody>
                    <a:bodyPr/>
                    <a:lstStyle/>
                    <a:p>
                      <a:r>
                        <a:rPr lang="de-AT" dirty="0" err="1"/>
                        <a:t>protected</a:t>
                      </a:r>
                      <a:endParaRPr lang="de-AT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de-AT" dirty="0"/>
                        <a:t>Im gleichen Packet</a:t>
                      </a:r>
                      <a:r>
                        <a:rPr lang="de-AT" baseline="0" dirty="0"/>
                        <a:t> und in allen vererbten Klassen sichtbar</a:t>
                      </a:r>
                      <a:endParaRPr lang="de-A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A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579">
                <a:tc>
                  <a:txBody>
                    <a:bodyPr/>
                    <a:lstStyle/>
                    <a:p>
                      <a:r>
                        <a:rPr lang="de-AT" dirty="0"/>
                        <a:t>private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de-AT" dirty="0"/>
                        <a:t>Nur in der</a:t>
                      </a:r>
                      <a:r>
                        <a:rPr lang="de-AT" baseline="0" dirty="0"/>
                        <a:t> eigenen Klasse sichtbar</a:t>
                      </a:r>
                      <a:endParaRPr lang="de-A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A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263">
                <a:tc>
                  <a:txBody>
                    <a:bodyPr/>
                    <a:lstStyle/>
                    <a:p>
                      <a:r>
                        <a:rPr lang="de-AT" dirty="0" err="1"/>
                        <a:t>abstract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Kann nicht </a:t>
                      </a:r>
                      <a:r>
                        <a:rPr lang="de-AT" dirty="0" err="1"/>
                        <a:t>instanziert</a:t>
                      </a:r>
                      <a:r>
                        <a:rPr lang="de-AT" dirty="0"/>
                        <a:t> werden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Enthält</a:t>
                      </a:r>
                      <a:r>
                        <a:rPr lang="de-AT" baseline="0" dirty="0"/>
                        <a:t> keinen Body, nur Signatur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8263">
                <a:tc>
                  <a:txBody>
                    <a:bodyPr/>
                    <a:lstStyle/>
                    <a:p>
                      <a:r>
                        <a:rPr lang="de-AT" dirty="0"/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Kann nicht erweitert werden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Kann Wert nicht ändern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Kann nicht überschrieben</a:t>
                      </a:r>
                      <a:r>
                        <a:rPr lang="de-AT" baseline="0" dirty="0"/>
                        <a:t> werden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579">
                <a:tc>
                  <a:txBody>
                    <a:bodyPr/>
                    <a:lstStyle/>
                    <a:p>
                      <a:r>
                        <a:rPr lang="de-AT" dirty="0"/>
                        <a:t>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Plattformspezifisch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8263">
                <a:tc>
                  <a:txBody>
                    <a:bodyPr/>
                    <a:lstStyle/>
                    <a:p>
                      <a:r>
                        <a:rPr lang="de-AT" dirty="0"/>
                        <a:t>transient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Nicht</a:t>
                      </a:r>
                      <a:r>
                        <a:rPr lang="de-AT" baseline="0" dirty="0"/>
                        <a:t> mit Objekt </a:t>
                      </a:r>
                      <a:r>
                        <a:rPr lang="de-AT" baseline="0" dirty="0" err="1"/>
                        <a:t>serialisiert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579">
                <a:tc>
                  <a:txBody>
                    <a:bodyPr/>
                    <a:lstStyle/>
                    <a:p>
                      <a:r>
                        <a:rPr lang="de-AT" dirty="0"/>
                        <a:t>volatile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Zugriffe atomar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579">
                <a:tc>
                  <a:txBody>
                    <a:bodyPr/>
                    <a:lstStyle/>
                    <a:p>
                      <a:r>
                        <a:rPr lang="de-AT" dirty="0" err="1"/>
                        <a:t>synchronized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Lock für Multithreading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579">
                <a:tc>
                  <a:txBody>
                    <a:bodyPr/>
                    <a:lstStyle/>
                    <a:p>
                      <a:r>
                        <a:rPr lang="de-AT" dirty="0" err="1"/>
                        <a:t>strictfp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Strikt nach IEEE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Strikt nach IEEE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Strikt nach IEEE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2572279" y="6299200"/>
            <a:ext cx="7084177" cy="317500"/>
          </a:xfrm>
        </p:spPr>
        <p:txBody>
          <a:bodyPr/>
          <a:lstStyle/>
          <a:p>
            <a:r>
              <a:rPr lang="en-US" dirty="0"/>
              <a:t>OOP Java - (c) 2014 </a:t>
            </a:r>
            <a:r>
              <a:rPr lang="en-US" dirty="0" err="1"/>
              <a:t>Damböck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661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10263"/>
          </a:xfrm>
        </p:spPr>
        <p:txBody>
          <a:bodyPr>
            <a:normAutofit fontScale="90000"/>
          </a:bodyPr>
          <a:lstStyle/>
          <a:p>
            <a:r>
              <a:rPr lang="de-AT" dirty="0"/>
              <a:t>Interfaces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484310" y="1296063"/>
            <a:ext cx="10018713" cy="4495137"/>
          </a:xfrm>
        </p:spPr>
        <p:txBody>
          <a:bodyPr>
            <a:normAutofit/>
          </a:bodyPr>
          <a:lstStyle/>
          <a:p>
            <a:r>
              <a:rPr lang="de-AT" dirty="0"/>
              <a:t>Java kann keine Mehrfachvererbung -&gt; Interfaces</a:t>
            </a:r>
          </a:p>
          <a:p>
            <a:r>
              <a:rPr lang="de-AT" dirty="0"/>
              <a:t>Interface definiert Methoden welche polymorph überschrieben werden müssen</a:t>
            </a:r>
          </a:p>
          <a:p>
            <a:r>
              <a:rPr lang="de-AT" dirty="0"/>
              <a:t>Interface durch Schlüsselwort „</a:t>
            </a:r>
            <a:r>
              <a:rPr lang="de-AT" dirty="0" err="1"/>
              <a:t>interface</a:t>
            </a:r>
            <a:r>
              <a:rPr lang="de-AT" dirty="0"/>
              <a:t>“ statt „</a:t>
            </a:r>
            <a:r>
              <a:rPr lang="de-AT" dirty="0" err="1"/>
              <a:t>class</a:t>
            </a:r>
            <a:r>
              <a:rPr lang="de-AT" dirty="0"/>
              <a:t>“</a:t>
            </a:r>
          </a:p>
          <a:p>
            <a:r>
              <a:rPr lang="de-AT" dirty="0"/>
              <a:t>Interface ist immer „</a:t>
            </a:r>
            <a:r>
              <a:rPr lang="de-AT" dirty="0" err="1"/>
              <a:t>abstract</a:t>
            </a:r>
            <a:r>
              <a:rPr lang="de-AT"/>
              <a:t>“</a:t>
            </a:r>
            <a:endParaRPr lang="de-AT" dirty="0"/>
          </a:p>
          <a:p>
            <a:r>
              <a:rPr lang="de-AT" dirty="0"/>
              <a:t>Verwendung eines Interfaces durch „</a:t>
            </a:r>
            <a:r>
              <a:rPr lang="de-AT" dirty="0" err="1"/>
              <a:t>implements</a:t>
            </a:r>
            <a:r>
              <a:rPr lang="de-AT" dirty="0"/>
              <a:t>“</a:t>
            </a:r>
          </a:p>
          <a:p>
            <a:r>
              <a:rPr lang="de-AT" dirty="0"/>
              <a:t>Objektvariable einer Interfaceklasse können alle Objekte welche dieses Interface realisieren aufnehmen.</a:t>
            </a:r>
          </a:p>
          <a:p>
            <a:r>
              <a:rPr lang="de-AT" dirty="0"/>
              <a:t>Eigenschaften nur final möglich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244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561109"/>
          </a:xfrm>
        </p:spPr>
        <p:txBody>
          <a:bodyPr>
            <a:normAutofit fontScale="90000"/>
          </a:bodyPr>
          <a:lstStyle/>
          <a:p>
            <a:r>
              <a:rPr lang="de-AT" dirty="0"/>
              <a:t>Grundlegende Klassen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484310" y="1376219"/>
            <a:ext cx="10018713" cy="4414982"/>
          </a:xfrm>
        </p:spPr>
        <p:txBody>
          <a:bodyPr>
            <a:normAutofit/>
          </a:bodyPr>
          <a:lstStyle/>
          <a:p>
            <a:r>
              <a:rPr lang="de-AT" dirty="0" err="1"/>
              <a:t>Object</a:t>
            </a:r>
            <a:r>
              <a:rPr lang="de-AT" dirty="0"/>
              <a:t> : Methoden </a:t>
            </a:r>
            <a:r>
              <a:rPr lang="de-AT" dirty="0" err="1"/>
              <a:t>toString</a:t>
            </a:r>
            <a:r>
              <a:rPr lang="de-AT" dirty="0"/>
              <a:t>(), </a:t>
            </a:r>
            <a:r>
              <a:rPr lang="de-AT" dirty="0" err="1"/>
              <a:t>equals</a:t>
            </a:r>
            <a:r>
              <a:rPr lang="de-AT" dirty="0"/>
              <a:t>()</a:t>
            </a:r>
          </a:p>
          <a:p>
            <a:r>
              <a:rPr lang="de-AT" dirty="0"/>
              <a:t>String -&gt; Zeichenketten</a:t>
            </a:r>
          </a:p>
          <a:p>
            <a:r>
              <a:rPr lang="de-AT" dirty="0"/>
              <a:t>Wrapper-Klassen: </a:t>
            </a:r>
            <a:br>
              <a:rPr lang="de-AT" dirty="0"/>
            </a:br>
            <a:r>
              <a:rPr lang="de-AT" dirty="0"/>
              <a:t>Byte, Short, Integer, Long, </a:t>
            </a:r>
            <a:r>
              <a:rPr lang="de-AT" dirty="0" err="1"/>
              <a:t>Float</a:t>
            </a:r>
            <a:r>
              <a:rPr lang="de-AT" dirty="0"/>
              <a:t>, Double, Boolean, </a:t>
            </a:r>
            <a:r>
              <a:rPr lang="de-AT" dirty="0" err="1"/>
              <a:t>Character</a:t>
            </a:r>
            <a:endParaRPr lang="de-AT" dirty="0"/>
          </a:p>
          <a:p>
            <a:r>
              <a:rPr lang="de-AT" dirty="0" err="1"/>
              <a:t>Vector</a:t>
            </a:r>
            <a:r>
              <a:rPr lang="de-AT" dirty="0"/>
              <a:t> -&gt; Felder</a:t>
            </a:r>
          </a:p>
          <a:p>
            <a:r>
              <a:rPr lang="de-AT" dirty="0"/>
              <a:t>File -&gt; Dateien</a:t>
            </a:r>
          </a:p>
          <a:p>
            <a:r>
              <a:rPr lang="de-AT" dirty="0"/>
              <a:t>Frame -&gt; Fenster von AWT</a:t>
            </a:r>
          </a:p>
          <a:p>
            <a:r>
              <a:rPr lang="de-AT" dirty="0" err="1"/>
              <a:t>Exception</a:t>
            </a:r>
            <a:r>
              <a:rPr lang="de-AT" dirty="0"/>
              <a:t> -&gt; Fehlerobjekt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177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llipse 24"/>
          <p:cNvSpPr/>
          <p:nvPr/>
        </p:nvSpPr>
        <p:spPr>
          <a:xfrm>
            <a:off x="6114367" y="3610263"/>
            <a:ext cx="4932219" cy="264506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Unchecked</a:t>
            </a:r>
            <a:r>
              <a:rPr lang="de-AT" dirty="0"/>
              <a:t> </a:t>
            </a:r>
            <a:r>
              <a:rPr lang="de-AT" dirty="0" err="1"/>
              <a:t>Exceptions</a:t>
            </a:r>
            <a:endParaRPr lang="de-AT" dirty="0"/>
          </a:p>
          <a:p>
            <a:pPr algn="ctr"/>
            <a:endParaRPr lang="de-AT" dirty="0"/>
          </a:p>
          <a:p>
            <a:pPr algn="ctr"/>
            <a:endParaRPr lang="de-AT" dirty="0"/>
          </a:p>
          <a:p>
            <a:pPr algn="ctr"/>
            <a:endParaRPr lang="de-A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08891"/>
          </a:xfrm>
        </p:spPr>
        <p:txBody>
          <a:bodyPr/>
          <a:lstStyle/>
          <a:p>
            <a:r>
              <a:rPr lang="de-AT" dirty="0" err="1"/>
              <a:t>Exception</a:t>
            </a:r>
            <a:r>
              <a:rPr lang="de-AT" dirty="0"/>
              <a:t>-Handling (siehe Kap. 5)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484310" y="1496291"/>
            <a:ext cx="10018713" cy="4294909"/>
          </a:xfrm>
        </p:spPr>
        <p:txBody>
          <a:bodyPr>
            <a:normAutofit/>
          </a:bodyPr>
          <a:lstStyle/>
          <a:p>
            <a:r>
              <a:rPr lang="de-AT" dirty="0"/>
              <a:t>Zur Behandlung von Laufzeitfehlern</a:t>
            </a:r>
          </a:p>
          <a:p>
            <a:r>
              <a:rPr lang="de-AT" dirty="0"/>
              <a:t>Fehler erzeugen : </a:t>
            </a:r>
            <a:r>
              <a:rPr lang="de-AT" dirty="0" err="1"/>
              <a:t>throw</a:t>
            </a:r>
            <a:r>
              <a:rPr lang="de-AT" dirty="0"/>
              <a:t> </a:t>
            </a:r>
          </a:p>
          <a:p>
            <a:r>
              <a:rPr lang="de-AT" dirty="0"/>
              <a:t>Fehler weitergeben : </a:t>
            </a:r>
            <a:r>
              <a:rPr lang="de-AT" dirty="0" err="1"/>
              <a:t>throws</a:t>
            </a:r>
            <a:endParaRPr lang="de-AT" dirty="0"/>
          </a:p>
          <a:p>
            <a:r>
              <a:rPr lang="de-AT" dirty="0"/>
              <a:t>Fehler behandeln : </a:t>
            </a:r>
            <a:r>
              <a:rPr lang="de-AT" dirty="0" err="1"/>
              <a:t>try</a:t>
            </a:r>
            <a:r>
              <a:rPr lang="de-AT" dirty="0"/>
              <a:t>-catch</a:t>
            </a:r>
          </a:p>
          <a:p>
            <a:r>
              <a:rPr lang="de-AT" dirty="0" err="1"/>
              <a:t>RuntimeException</a:t>
            </a:r>
            <a:r>
              <a:rPr lang="de-AT" dirty="0"/>
              <a:t> -&gt; </a:t>
            </a:r>
            <a:r>
              <a:rPr lang="de-AT" dirty="0" err="1"/>
              <a:t>unchecked</a:t>
            </a:r>
            <a:br>
              <a:rPr lang="de-AT" dirty="0"/>
            </a:br>
            <a:r>
              <a:rPr lang="de-AT" dirty="0"/>
              <a:t>muss nicht behandelt werden</a:t>
            </a:r>
            <a:br>
              <a:rPr lang="de-AT" dirty="0"/>
            </a:br>
            <a:r>
              <a:rPr lang="de-AT" dirty="0"/>
              <a:t>-&gt; führt zu Laufzeitfehler</a:t>
            </a:r>
          </a:p>
          <a:p>
            <a:r>
              <a:rPr lang="de-AT" dirty="0" err="1"/>
              <a:t>checked</a:t>
            </a:r>
            <a:r>
              <a:rPr lang="de-AT" dirty="0"/>
              <a:t> </a:t>
            </a:r>
            <a:r>
              <a:rPr lang="de-AT" dirty="0" err="1"/>
              <a:t>Exceptions</a:t>
            </a:r>
            <a:r>
              <a:rPr lang="de-AT" dirty="0"/>
              <a:t> müssen</a:t>
            </a:r>
            <a:br>
              <a:rPr lang="de-AT" dirty="0"/>
            </a:br>
            <a:r>
              <a:rPr lang="de-AT" dirty="0"/>
              <a:t>behandelt werden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OOP Java - (c) 2014 </a:t>
            </a:r>
            <a:r>
              <a:rPr lang="en-US" dirty="0" err="1"/>
              <a:t>Damböck</a:t>
            </a:r>
            <a:endParaRPr lang="en-US" dirty="0"/>
          </a:p>
        </p:txBody>
      </p:sp>
      <p:sp>
        <p:nvSpPr>
          <p:cNvPr id="5" name="Rechteck 4"/>
          <p:cNvSpPr/>
          <p:nvPr/>
        </p:nvSpPr>
        <p:spPr>
          <a:xfrm>
            <a:off x="8054109" y="2124364"/>
            <a:ext cx="1533236" cy="471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Throwable</a:t>
            </a:r>
            <a:endParaRPr lang="de-AT" dirty="0"/>
          </a:p>
        </p:txBody>
      </p:sp>
      <p:sp>
        <p:nvSpPr>
          <p:cNvPr id="6" name="Rechteck 5"/>
          <p:cNvSpPr/>
          <p:nvPr/>
        </p:nvSpPr>
        <p:spPr>
          <a:xfrm>
            <a:off x="6857567" y="2962564"/>
            <a:ext cx="1533236" cy="471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Error</a:t>
            </a:r>
          </a:p>
        </p:txBody>
      </p:sp>
      <p:sp>
        <p:nvSpPr>
          <p:cNvPr id="7" name="Rechteck 6"/>
          <p:cNvSpPr/>
          <p:nvPr/>
        </p:nvSpPr>
        <p:spPr>
          <a:xfrm>
            <a:off x="9203169" y="2962564"/>
            <a:ext cx="1533236" cy="471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Exception</a:t>
            </a:r>
            <a:endParaRPr lang="de-AT" dirty="0"/>
          </a:p>
        </p:txBody>
      </p:sp>
      <p:sp>
        <p:nvSpPr>
          <p:cNvPr id="8" name="Rechteck 7"/>
          <p:cNvSpPr/>
          <p:nvPr/>
        </p:nvSpPr>
        <p:spPr>
          <a:xfrm>
            <a:off x="7740073" y="3800764"/>
            <a:ext cx="2041235" cy="471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RuntimeException</a:t>
            </a:r>
            <a:endParaRPr lang="de-AT" dirty="0"/>
          </a:p>
        </p:txBody>
      </p:sp>
      <p:sp>
        <p:nvSpPr>
          <p:cNvPr id="10" name="Rechteck 9"/>
          <p:cNvSpPr/>
          <p:nvPr/>
        </p:nvSpPr>
        <p:spPr>
          <a:xfrm>
            <a:off x="8054109" y="1489363"/>
            <a:ext cx="1533236" cy="471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Object</a:t>
            </a:r>
            <a:endParaRPr lang="de-AT" dirty="0"/>
          </a:p>
        </p:txBody>
      </p:sp>
      <p:cxnSp>
        <p:nvCxnSpPr>
          <p:cNvPr id="12" name="Gerader Verbinder 11"/>
          <p:cNvCxnSpPr>
            <a:stCxn id="10" idx="2"/>
            <a:endCxn id="5" idx="0"/>
          </p:cNvCxnSpPr>
          <p:nvPr/>
        </p:nvCxnSpPr>
        <p:spPr>
          <a:xfrm>
            <a:off x="8820727" y="1960417"/>
            <a:ext cx="0" cy="163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/>
          <p:cNvCxnSpPr>
            <a:stCxn id="5" idx="2"/>
            <a:endCxn id="6" idx="0"/>
          </p:cNvCxnSpPr>
          <p:nvPr/>
        </p:nvCxnSpPr>
        <p:spPr>
          <a:xfrm flipH="1">
            <a:off x="7624185" y="2595418"/>
            <a:ext cx="1196542" cy="3671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/>
          <p:cNvCxnSpPr>
            <a:stCxn id="5" idx="2"/>
            <a:endCxn id="7" idx="0"/>
          </p:cNvCxnSpPr>
          <p:nvPr/>
        </p:nvCxnSpPr>
        <p:spPr>
          <a:xfrm>
            <a:off x="8820727" y="2595418"/>
            <a:ext cx="1149060" cy="3671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/>
          <p:cNvCxnSpPr>
            <a:stCxn id="8" idx="0"/>
            <a:endCxn id="7" idx="2"/>
          </p:cNvCxnSpPr>
          <p:nvPr/>
        </p:nvCxnSpPr>
        <p:spPr>
          <a:xfrm flipV="1">
            <a:off x="8760691" y="3433618"/>
            <a:ext cx="1209096" cy="3671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hteck 25"/>
          <p:cNvSpPr/>
          <p:nvPr/>
        </p:nvSpPr>
        <p:spPr>
          <a:xfrm>
            <a:off x="6281230" y="4697267"/>
            <a:ext cx="1533236" cy="471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NullPointerException</a:t>
            </a:r>
            <a:endParaRPr lang="de-AT" dirty="0"/>
          </a:p>
        </p:txBody>
      </p:sp>
      <p:sp>
        <p:nvSpPr>
          <p:cNvPr id="28" name="Rechteck 27"/>
          <p:cNvSpPr/>
          <p:nvPr/>
        </p:nvSpPr>
        <p:spPr>
          <a:xfrm>
            <a:off x="6857567" y="5357956"/>
            <a:ext cx="1741990" cy="471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IndexOutOfBoundsException</a:t>
            </a:r>
            <a:endParaRPr lang="de-AT" dirty="0"/>
          </a:p>
        </p:txBody>
      </p:sp>
      <p:sp>
        <p:nvSpPr>
          <p:cNvPr id="29" name="Rechteck 28"/>
          <p:cNvSpPr/>
          <p:nvPr/>
        </p:nvSpPr>
        <p:spPr>
          <a:xfrm>
            <a:off x="8628639" y="5366184"/>
            <a:ext cx="1533236" cy="471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ArithmeticException</a:t>
            </a:r>
            <a:endParaRPr lang="de-AT" dirty="0"/>
          </a:p>
        </p:txBody>
      </p:sp>
      <p:sp>
        <p:nvSpPr>
          <p:cNvPr id="30" name="Rechteck 29"/>
          <p:cNvSpPr/>
          <p:nvPr/>
        </p:nvSpPr>
        <p:spPr>
          <a:xfrm>
            <a:off x="9337530" y="4763511"/>
            <a:ext cx="1533236" cy="471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IllegalArgumentException</a:t>
            </a:r>
            <a:endParaRPr lang="de-AT" dirty="0"/>
          </a:p>
        </p:txBody>
      </p:sp>
      <p:cxnSp>
        <p:nvCxnSpPr>
          <p:cNvPr id="32" name="Gerader Verbinder 31"/>
          <p:cNvCxnSpPr>
            <a:stCxn id="8" idx="2"/>
            <a:endCxn id="26" idx="0"/>
          </p:cNvCxnSpPr>
          <p:nvPr/>
        </p:nvCxnSpPr>
        <p:spPr>
          <a:xfrm flipH="1">
            <a:off x="7047848" y="4271818"/>
            <a:ext cx="1712843" cy="425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/>
          <p:cNvCxnSpPr>
            <a:endCxn id="28" idx="0"/>
          </p:cNvCxnSpPr>
          <p:nvPr/>
        </p:nvCxnSpPr>
        <p:spPr>
          <a:xfrm flipH="1">
            <a:off x="7728562" y="4271818"/>
            <a:ext cx="1032129" cy="1086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/>
          <p:cNvCxnSpPr>
            <a:endCxn id="29" idx="0"/>
          </p:cNvCxnSpPr>
          <p:nvPr/>
        </p:nvCxnSpPr>
        <p:spPr>
          <a:xfrm>
            <a:off x="8760691" y="4271818"/>
            <a:ext cx="634566" cy="10943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/>
          <p:cNvCxnSpPr>
            <a:stCxn id="8" idx="2"/>
            <a:endCxn id="30" idx="0"/>
          </p:cNvCxnSpPr>
          <p:nvPr/>
        </p:nvCxnSpPr>
        <p:spPr>
          <a:xfrm>
            <a:off x="8760691" y="4271818"/>
            <a:ext cx="1343457" cy="491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229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561109"/>
          </a:xfrm>
        </p:spPr>
        <p:txBody>
          <a:bodyPr>
            <a:normAutofit fontScale="90000"/>
          </a:bodyPr>
          <a:lstStyle/>
          <a:p>
            <a:r>
              <a:rPr lang="de-AT" dirty="0"/>
              <a:t>AWT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484310" y="1246909"/>
            <a:ext cx="10018713" cy="4544291"/>
          </a:xfrm>
        </p:spPr>
        <p:txBody>
          <a:bodyPr/>
          <a:lstStyle/>
          <a:p>
            <a:r>
              <a:rPr lang="de-AT" dirty="0"/>
              <a:t>Einfache graphische Fenster-Objekte</a:t>
            </a:r>
          </a:p>
          <a:p>
            <a:r>
              <a:rPr lang="de-AT" dirty="0"/>
              <a:t>Basieren auf API-Funktionen des Betriebssystems</a:t>
            </a:r>
          </a:p>
          <a:p>
            <a:r>
              <a:rPr lang="de-AT" dirty="0"/>
              <a:t>AWT-Programme haben immer den „</a:t>
            </a:r>
            <a:r>
              <a:rPr lang="de-AT" dirty="0" err="1"/>
              <a:t>look</a:t>
            </a:r>
            <a:r>
              <a:rPr lang="de-AT" dirty="0"/>
              <a:t>“ des Betriebssystems</a:t>
            </a:r>
          </a:p>
          <a:p>
            <a:r>
              <a:rPr lang="de-AT" dirty="0"/>
              <a:t>Schnell und Einfach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999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514927"/>
          </a:xfrm>
        </p:spPr>
        <p:txBody>
          <a:bodyPr>
            <a:normAutofit fontScale="90000"/>
          </a:bodyPr>
          <a:lstStyle/>
          <a:p>
            <a:r>
              <a:rPr lang="de-AT" dirty="0"/>
              <a:t>Swing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484310" y="1200727"/>
            <a:ext cx="10018713" cy="4590473"/>
          </a:xfrm>
        </p:spPr>
        <p:txBody>
          <a:bodyPr/>
          <a:lstStyle/>
          <a:p>
            <a:r>
              <a:rPr lang="de-AT" dirty="0"/>
              <a:t>Komplexe Bibliothek für graphische Programme</a:t>
            </a:r>
          </a:p>
          <a:p>
            <a:r>
              <a:rPr lang="de-AT" dirty="0"/>
              <a:t>Alle Fenster werden durch Java-Funktionen gezeichnet</a:t>
            </a:r>
          </a:p>
          <a:p>
            <a:r>
              <a:rPr lang="de-AT" dirty="0"/>
              <a:t>Programme sehen unabhängig vom Betriebssystem immer gleich aus</a:t>
            </a:r>
          </a:p>
          <a:p>
            <a:r>
              <a:rPr lang="de-AT" dirty="0"/>
              <a:t>Langsamer als AWT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632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588818"/>
          </a:xfrm>
        </p:spPr>
        <p:txBody>
          <a:bodyPr>
            <a:normAutofit fontScale="90000"/>
          </a:bodyPr>
          <a:lstStyle/>
          <a:p>
            <a:r>
              <a:rPr lang="de-AT" dirty="0"/>
              <a:t>Collection - Framework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484310" y="1348509"/>
            <a:ext cx="10018713" cy="4442691"/>
          </a:xfrm>
        </p:spPr>
        <p:txBody>
          <a:bodyPr/>
          <a:lstStyle/>
          <a:p>
            <a:r>
              <a:rPr lang="de-AT" dirty="0"/>
              <a:t>Umfangreiche Sammlung von Klassen für Felder</a:t>
            </a:r>
          </a:p>
          <a:p>
            <a:endParaRPr lang="de-AT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815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542636"/>
          </a:xfrm>
        </p:spPr>
        <p:txBody>
          <a:bodyPr>
            <a:normAutofit fontScale="90000"/>
          </a:bodyPr>
          <a:lstStyle/>
          <a:p>
            <a:r>
              <a:rPr lang="de-AT" dirty="0"/>
              <a:t>Dateien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484310" y="1228437"/>
            <a:ext cx="10018713" cy="4562763"/>
          </a:xfrm>
        </p:spPr>
        <p:txBody>
          <a:bodyPr/>
          <a:lstStyle/>
          <a:p>
            <a:r>
              <a:rPr lang="de-AT" dirty="0"/>
              <a:t>Textdateien</a:t>
            </a:r>
          </a:p>
          <a:p>
            <a:r>
              <a:rPr lang="de-AT" dirty="0"/>
              <a:t>Binärdateien</a:t>
            </a:r>
          </a:p>
          <a:p>
            <a:r>
              <a:rPr lang="de-AT" dirty="0"/>
              <a:t>Streams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OOP Java - (c) 2014 Damböck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3667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TC103457496[[fn=Parallax]]</Template>
  <TotalTime>0</TotalTime>
  <Words>791</Words>
  <Application>Microsoft Office PowerPoint</Application>
  <PresentationFormat>Breitbild</PresentationFormat>
  <Paragraphs>203</Paragraphs>
  <Slides>16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Arial</vt:lpstr>
      <vt:lpstr>Calibri</vt:lpstr>
      <vt:lpstr>Corbel</vt:lpstr>
      <vt:lpstr>Parallax</vt:lpstr>
      <vt:lpstr>Objektorientierte Programmierung mit JAVA</vt:lpstr>
      <vt:lpstr>Klassen - Objekte</vt:lpstr>
      <vt:lpstr>Schlüsselwort „static“</vt:lpstr>
      <vt:lpstr>Beispiel – komplexe Zahl</vt:lpstr>
      <vt:lpstr>Vererbung</vt:lpstr>
      <vt:lpstr>Polymorphie - Vieldeutigkeit</vt:lpstr>
      <vt:lpstr>Datenkapselung  und Sichtbarkeit</vt:lpstr>
      <vt:lpstr>Abstrakte Klassen</vt:lpstr>
      <vt:lpstr>Modifier</vt:lpstr>
      <vt:lpstr>Interfaces</vt:lpstr>
      <vt:lpstr>Grundlegende Klassen</vt:lpstr>
      <vt:lpstr>Exception-Handling (siehe Kap. 5)</vt:lpstr>
      <vt:lpstr>AWT</vt:lpstr>
      <vt:lpstr>Swing</vt:lpstr>
      <vt:lpstr>Collection - Framework</vt:lpstr>
      <vt:lpstr>Dateien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Objektorientierte Programmierung mit JAVA</dc:title>
  <dc:creator>Werner DAMBÖCK</dc:creator>
  <cp:lastModifiedBy>Werner Damböck</cp:lastModifiedBy>
  <cp:revision>31</cp:revision>
  <dcterms:created xsi:type="dcterms:W3CDTF">2014-02-23T16:39:49Z</dcterms:created>
  <dcterms:modified xsi:type="dcterms:W3CDTF">2023-04-13T13:17:10Z</dcterms:modified>
</cp:coreProperties>
</file>